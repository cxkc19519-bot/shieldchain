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23d0d110f14bb9" /><Relationship Type="http://schemas.openxmlformats.org/officeDocument/2006/relationships/extended-properties" Target="/docProps/app.xml" Id="Ra8a9eab602374a1c" /><Relationship Type="http://schemas.openxmlformats.org/officeDocument/2006/relationships/officeDocument" Target="/ppt/presentation.xml" Id="R17616a06bb8446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2725d26e241e3"/>
  </p:sldMasterIdLst>
  <p:notesMasterIdLst>
    <p:notesMasterId xmlns:r="http://schemas.openxmlformats.org/officeDocument/2006/relationships" r:id="Rb61869b865bf41a6"/>
  </p:notesMasterIdLst>
  <p:sldIdLst>
    <p:sldId xmlns:r="http://schemas.openxmlformats.org/officeDocument/2006/relationships" id="256" r:id="R7410dfdc82ca436e"/>
    <p:sldId xmlns:r="http://schemas.openxmlformats.org/officeDocument/2006/relationships" id="257" r:id="Rc4d27697d9e1483d"/>
    <p:sldId xmlns:r="http://schemas.openxmlformats.org/officeDocument/2006/relationships" id="258" r:id="R122313583b1c4581"/>
    <p:sldId xmlns:r="http://schemas.openxmlformats.org/officeDocument/2006/relationships" id="259" r:id="R8c9e1e1111654b2a"/>
    <p:sldId xmlns:r="http://schemas.openxmlformats.org/officeDocument/2006/relationships" id="260" r:id="Rfcb559529a84438f"/>
    <p:sldId xmlns:r="http://schemas.openxmlformats.org/officeDocument/2006/relationships" id="261" r:id="R37f82d73cf57484e"/>
    <p:sldId xmlns:r="http://schemas.openxmlformats.org/officeDocument/2006/relationships" id="262" r:id="Raa6aad127e514b14"/>
    <p:sldId xmlns:r="http://schemas.openxmlformats.org/officeDocument/2006/relationships" id="263" r:id="R9cf073bdb8b4462b"/>
    <p:sldId xmlns:r="http://schemas.openxmlformats.org/officeDocument/2006/relationships" id="264" r:id="Rd9db5ca9139344f5"/>
    <p:sldId xmlns:r="http://schemas.openxmlformats.org/officeDocument/2006/relationships" id="265" r:id="R30b9587ba8dc4d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48da10b6854c11" /><Relationship Type="http://schemas.openxmlformats.org/officeDocument/2006/relationships/slideMaster" Target="/ppt/slideMasters/slideMaster1.xml" Id="Rdac2725d26e241e3" /><Relationship Type="http://schemas.openxmlformats.org/officeDocument/2006/relationships/notesMaster" Target="/ppt/notesMasters/notesMaster1.xml" Id="Rb61869b865bf41a6" /><Relationship Type="http://schemas.openxmlformats.org/officeDocument/2006/relationships/presProps" Target="/ppt/presProps.xml" Id="R750f1663568b4b65" /><Relationship Type="http://schemas.openxmlformats.org/officeDocument/2006/relationships/tableStyles" Target="/ppt/tableStyles.xml" Id="Rb4836e1d9e834e8e" /><Relationship Type="http://schemas.openxmlformats.org/officeDocument/2006/relationships/slide" Target="/ppt/slides/slide1.xml" Id="R7410dfdc82ca436e" /><Relationship Type="http://schemas.openxmlformats.org/officeDocument/2006/relationships/slide" Target="/ppt/slides/slide2.xml" Id="Rc4d27697d9e1483d" /><Relationship Type="http://schemas.openxmlformats.org/officeDocument/2006/relationships/slide" Target="/ppt/slides/slide3.xml" Id="R122313583b1c4581" /><Relationship Type="http://schemas.openxmlformats.org/officeDocument/2006/relationships/slide" Target="/ppt/slides/slide4.xml" Id="R8c9e1e1111654b2a" /><Relationship Type="http://schemas.openxmlformats.org/officeDocument/2006/relationships/slide" Target="/ppt/slides/slide5.xml" Id="Rfcb559529a84438f" /><Relationship Type="http://schemas.openxmlformats.org/officeDocument/2006/relationships/slide" Target="/ppt/slides/slide6.xml" Id="R37f82d73cf57484e" /><Relationship Type="http://schemas.openxmlformats.org/officeDocument/2006/relationships/slide" Target="/ppt/slides/slide7.xml" Id="Raa6aad127e514b14" /><Relationship Type="http://schemas.openxmlformats.org/officeDocument/2006/relationships/slide" Target="/ppt/slides/slide8.xml" Id="R9cf073bdb8b4462b" /><Relationship Type="http://schemas.openxmlformats.org/officeDocument/2006/relationships/slide" Target="/ppt/slides/slide9.xml" Id="Rd9db5ca9139344f5" /><Relationship Type="http://schemas.openxmlformats.org/officeDocument/2006/relationships/slide" Target="/ppt/slides/slide10.xml" Id="R30b9587ba8dc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7f7d98949c46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c8884c183a406b" /><Relationship Type="http://schemas.openxmlformats.org/officeDocument/2006/relationships/notesMaster" Target="/ppt/notesMasters/notesMaster1.xml" Id="R241a73fb667142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d24e7e764426f" /><Relationship Type="http://schemas.openxmlformats.org/officeDocument/2006/relationships/notesMaster" Target="/ppt/notesMasters/notesMaster1.xml" Id="R47f3d260a6f64e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1e4e783ac4430c" /><Relationship Type="http://schemas.openxmlformats.org/officeDocument/2006/relationships/notesMaster" Target="/ppt/notesMasters/notesMaster1.xml" Id="Rf34af59abab940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5ca5519054433d" /><Relationship Type="http://schemas.openxmlformats.org/officeDocument/2006/relationships/notesMaster" Target="/ppt/notesMasters/notesMaster1.xml" Id="R62ccc84095434e0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c4c5dfbd4947fc" /><Relationship Type="http://schemas.openxmlformats.org/officeDocument/2006/relationships/notesMaster" Target="/ppt/notesMasters/notesMaster1.xml" Id="R4a6cbdc4c71a46a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fa3d0e20b54792" /><Relationship Type="http://schemas.openxmlformats.org/officeDocument/2006/relationships/notesMaster" Target="/ppt/notesMasters/notesMaster1.xml" Id="R330404986df144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a5bc6305984a5c" /><Relationship Type="http://schemas.openxmlformats.org/officeDocument/2006/relationships/notesMaster" Target="/ppt/notesMasters/notesMaster1.xml" Id="R0b573806583d40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12770f4e124cc2" /><Relationship Type="http://schemas.openxmlformats.org/officeDocument/2006/relationships/notesMaster" Target="/ppt/notesMasters/notesMaster1.xml" Id="R602a96ce27b347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bee92ece214934" /><Relationship Type="http://schemas.openxmlformats.org/officeDocument/2006/relationships/notesMaster" Target="/ppt/notesMasters/notesMaster1.xml" Id="R6260ed28b9a443d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662bed1dac4fae" /><Relationship Type="http://schemas.openxmlformats.org/officeDocument/2006/relationships/notesMaster" Target="/ppt/notesMasters/notesMaster1.xml" Id="R79900582be514b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d110bdc5d46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00ef70dd324a9c" /><Relationship Type="http://schemas.openxmlformats.org/officeDocument/2006/relationships/slideLayout" Target="/ppt/slideLayouts/slideLayout1.xml" Id="R5d89920328484a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89920328484a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32061ed3c4e26" /><Relationship Type="http://schemas.openxmlformats.org/officeDocument/2006/relationships/notesSlide" Target="/ppt/notesSlides/notesSlide1.xml" Id="R7a2f03cc402042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bcb9db39f4774" /><Relationship Type="http://schemas.openxmlformats.org/officeDocument/2006/relationships/notesSlide" Target="/ppt/notesSlides/notesSlide2.xml" Id="Rc7cb23995fbf40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0bb564482484a" /><Relationship Type="http://schemas.openxmlformats.org/officeDocument/2006/relationships/notesSlide" Target="/ppt/notesSlides/notesSlide3.xml" Id="Ra7a91ce5d6e14b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f91c849214fea" /><Relationship Type="http://schemas.openxmlformats.org/officeDocument/2006/relationships/notesSlide" Target="/ppt/notesSlides/notesSlide4.xml" Id="Rfd08be2c50fb43d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b2d54c1884c40" /><Relationship Type="http://schemas.openxmlformats.org/officeDocument/2006/relationships/notesSlide" Target="/ppt/notesSlides/notesSlide5.xml" Id="Reca1878425ad45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0cb762bcf477e" /><Relationship Type="http://schemas.openxmlformats.org/officeDocument/2006/relationships/notesSlide" Target="/ppt/notesSlides/notesSlide6.xml" Id="R2272f688469346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397ae495847a9" /><Relationship Type="http://schemas.openxmlformats.org/officeDocument/2006/relationships/notesSlide" Target="/ppt/notesSlides/notesSlide7.xml" Id="R1937eccff52344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27d55c6504a7d" /><Relationship Type="http://schemas.openxmlformats.org/officeDocument/2006/relationships/notesSlide" Target="/ppt/notesSlides/notesSlide8.xml" Id="R2f06f400054046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0b99f290f4c97" /><Relationship Type="http://schemas.openxmlformats.org/officeDocument/2006/relationships/notesSlide" Target="/ppt/notesSlides/notesSlide9.xml" Id="Rb61f72d050444f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f90ecd4ec4e1c" /><Relationship Type="http://schemas.openxmlformats.org/officeDocument/2006/relationships/notesSlide" Target="/ppt/notesSlides/notesSlide10.xml" Id="Rc26c67db81d34d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DBA3FF4-7B28-4958-96FD-F5A59857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99E4B05-FD68-42D7-B37A-D41BF211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网络安全智能体比赛交付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E17E38D-8613-4033-9D93-73202ABB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盾链智御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16DC8C7-8015-43EA-893F-49325753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762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把智能体判断变成可授权、可验证、可审计的安全运营闭环</a:t>
            </a:r>
          </a:p>
        </p:txBody>
      </p:sp>
      <p:sp>
        <p:nvSpPr>
          <p:cNvPr id="5" name="cover-field">
            <a:extLst xmlns:a="http://schemas.openxmlformats.org/drawingml/2006/main">
              <a:ext uri="{FF2B5EF4-FFF2-40B4-BE49-F238E27FC236}">
                <a16:creationId xmlns:a16="http://schemas.microsoft.com/office/drawing/2014/main" id="{B313DC47-EC0C-4755-B6FD-EED13F49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2450"/>
            <a:ext cx="285750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mark">
            <a:extLst xmlns:a="http://schemas.openxmlformats.org/drawingml/2006/main">
              <a:ext uri="{FF2B5EF4-FFF2-40B4-BE49-F238E27FC236}">
                <a16:creationId xmlns:a16="http://schemas.microsoft.com/office/drawing/2014/main" id="{609021C0-3EDB-45F6-AC0B-16AA8246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47750"/>
            <a:ext cx="1333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盾</a:t>
            </a:r>
          </a:p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链</a:t>
            </a:r>
          </a:p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智</a:t>
            </a:r>
          </a:p>
          <a:p xmlns:a="http://schemas.openxmlformats.org/drawingml/2006/main">
            <a:pPr algn="ctr">
              <a:def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御</a:t>
            </a:r>
          </a:p>
        </p:txBody>
      </p:sp>
      <p:sp>
        <p:nvSpPr>
          <p:cNvPr id="7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4297CCB3-1942-4F49-9331-3C3CED96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53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2026</a:t>
            </a:r>
          </a:p>
        </p:txBody>
      </p:sp>
    </p:spTree>
    <p:extLst>
      <p:ext uri="{BB962C8B-B14F-4D97-AF65-F5344CB8AC3E}">
        <p14:creationId xmlns:p14="http://schemas.microsoft.com/office/powerpoint/2010/main" val="1252529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2">
            <a:extLst xmlns:a="http://schemas.openxmlformats.org/drawingml/2006/main">
              <a:ext uri="{FF2B5EF4-FFF2-40B4-BE49-F238E27FC236}">
                <a16:creationId xmlns:a16="http://schemas.microsoft.com/office/drawing/2014/main" id="{38272977-B673-4E8E-9206-80607B39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安全运营的难点不在“会分析”，而在“敢执行”</a:t>
            </a:r>
          </a:p>
        </p:txBody>
      </p:sp>
      <p:sp>
        <p:nvSpPr>
          <p:cNvPr id="2" name="rule-2">
            <a:extLst xmlns:a="http://schemas.openxmlformats.org/drawingml/2006/main">
              <a:ext uri="{FF2B5EF4-FFF2-40B4-BE49-F238E27FC236}">
                <a16:creationId xmlns:a16="http://schemas.microsoft.com/office/drawing/2014/main" id="{DCDC75BE-0866-488A-ABBF-2178F4E6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248B5058-DB46-4317-9AD8-94F9BC39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1BC8D73-FE39-448B-8F04-7EEA233C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7A85C98B-C310-4228-BCEA-35A90E0A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告警、知识、模型与设备之间存在三道断层</a:t>
            </a:r>
          </a:p>
        </p:txBody>
      </p:sp>
      <p:sp>
        <p:nvSpPr>
          <p:cNvPr id="6" name="problem-0">
            <a:extLst xmlns:a="http://schemas.openxmlformats.org/drawingml/2006/main">
              <a:ext uri="{FF2B5EF4-FFF2-40B4-BE49-F238E27FC236}">
                <a16:creationId xmlns:a16="http://schemas.microsoft.com/office/drawing/2014/main" id="{7CEB3B63-0F45-4D9A-9BE4-B1AA5C16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3429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h-0">
            <a:extLst xmlns:a="http://schemas.openxmlformats.org/drawingml/2006/main">
              <a:ext uri="{FF2B5EF4-FFF2-40B4-BE49-F238E27FC236}">
                <a16:creationId xmlns:a16="http://schemas.microsoft.com/office/drawing/2014/main" id="{3DA69750-0AAD-43A9-ADD6-11036491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上下文断层</a:t>
            </a:r>
          </a:p>
        </p:txBody>
      </p:sp>
      <p:sp>
        <p:nvSpPr>
          <p:cNvPr id="8" name="problem-b-0">
            <a:extLst xmlns:a="http://schemas.openxmlformats.org/drawingml/2006/main">
              <a:ext uri="{FF2B5EF4-FFF2-40B4-BE49-F238E27FC236}">
                <a16:creationId xmlns:a16="http://schemas.microsoft.com/office/drawing/2014/main" id="{63AA585F-7FF7-4FC4-ADD7-1782F0801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证据分散，跨智能体交接容易丢失权限与引用</a:t>
            </a:r>
          </a:p>
        </p:txBody>
      </p:sp>
      <p:sp>
        <p:nvSpPr>
          <p:cNvPr id="9" name="problem-1">
            <a:extLst xmlns:a="http://schemas.openxmlformats.org/drawingml/2006/main">
              <a:ext uri="{FF2B5EF4-FFF2-40B4-BE49-F238E27FC236}">
                <a16:creationId xmlns:a16="http://schemas.microsoft.com/office/drawing/2014/main" id="{472A508B-20C7-4CBC-B471-2304D46A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09800"/>
            <a:ext cx="3429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h-1">
            <a:extLst xmlns:a="http://schemas.openxmlformats.org/drawingml/2006/main">
              <a:ext uri="{FF2B5EF4-FFF2-40B4-BE49-F238E27FC236}">
                <a16:creationId xmlns:a16="http://schemas.microsoft.com/office/drawing/2014/main" id="{C4841381-1C02-48C2-8716-D881146D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执行断层</a:t>
            </a:r>
          </a:p>
        </p:txBody>
      </p:sp>
      <p:sp>
        <p:nvSpPr>
          <p:cNvPr id="11" name="problem-b-1">
            <a:extLst xmlns:a="http://schemas.openxmlformats.org/drawingml/2006/main">
              <a:ext uri="{FF2B5EF4-FFF2-40B4-BE49-F238E27FC236}">
                <a16:creationId xmlns:a16="http://schemas.microsoft.com/office/drawing/2014/main" id="{7176B6AC-2AFE-4DF1-96C6-44A09CC6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194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模型输出若直连设备，审批、幂等与风险控制无从保证</a:t>
            </a:r>
          </a:p>
        </p:txBody>
      </p:sp>
      <p:sp>
        <p:nvSpPr>
          <p:cNvPr id="12" name="problem-2">
            <a:extLst xmlns:a="http://schemas.openxmlformats.org/drawingml/2006/main">
              <a:ext uri="{FF2B5EF4-FFF2-40B4-BE49-F238E27FC236}">
                <a16:creationId xmlns:a16="http://schemas.microsoft.com/office/drawing/2014/main" id="{C645C627-FABA-416E-AE26-31F113E7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34290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h-2">
            <a:extLst xmlns:a="http://schemas.openxmlformats.org/drawingml/2006/main">
              <a:ext uri="{FF2B5EF4-FFF2-40B4-BE49-F238E27FC236}">
                <a16:creationId xmlns:a16="http://schemas.microsoft.com/office/drawing/2014/main" id="{307EA120-357D-4A80-B7A1-DBB60615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验证断层</a:t>
            </a:r>
          </a:p>
        </p:txBody>
      </p:sp>
      <p:sp>
        <p:nvSpPr>
          <p:cNvPr id="14" name="problem-b-2">
            <a:extLst xmlns:a="http://schemas.openxmlformats.org/drawingml/2006/main">
              <a:ext uri="{FF2B5EF4-FFF2-40B4-BE49-F238E27FC236}">
                <a16:creationId xmlns:a16="http://schemas.microsoft.com/office/drawing/2014/main" id="{3BF0B5EF-A61B-43D5-92B1-6745904B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19450"/>
            <a:ext cx="2895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动作成功不等于风险消失，失败恢复又可能形成循环</a:t>
            </a:r>
          </a:p>
        </p:txBody>
      </p:sp>
      <p:sp>
        <p:nvSpPr>
          <p:cNvPr id="15" name="problem-close">
            <a:extLst xmlns:a="http://schemas.openxmlformats.org/drawingml/2006/main">
              <a:ext uri="{FF2B5EF4-FFF2-40B4-BE49-F238E27FC236}">
                <a16:creationId xmlns:a16="http://schemas.microsoft.com/office/drawing/2014/main" id="{75E6EF9B-0A5E-468F-A1A9-E203189D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因此系统目标不是“更自主”，而是“在边界内闭环”。</a:t>
            </a:r>
          </a:p>
        </p:txBody>
      </p:sp>
    </p:spTree>
    <p:extLst>
      <p:ext uri="{BB962C8B-B14F-4D97-AF65-F5344CB8AC3E}">
        <p14:creationId xmlns:p14="http://schemas.microsoft.com/office/powerpoint/2010/main" val="917359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3">
            <a:extLst xmlns:a="http://schemas.openxmlformats.org/drawingml/2006/main">
              <a:ext uri="{FF2B5EF4-FFF2-40B4-BE49-F238E27FC236}">
                <a16:creationId xmlns:a16="http://schemas.microsoft.com/office/drawing/2014/main" id="{E6628868-2B01-4114-96E8-CD165A63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模块化单体把语义能力与确定性控制分开</a:t>
            </a:r>
          </a:p>
        </p:txBody>
      </p:sp>
      <p:sp>
        <p:nvSpPr>
          <p:cNvPr id="2" name="rule-3">
            <a:extLst xmlns:a="http://schemas.openxmlformats.org/drawingml/2006/main">
              <a:ext uri="{FF2B5EF4-FFF2-40B4-BE49-F238E27FC236}">
                <a16:creationId xmlns:a16="http://schemas.microsoft.com/office/drawing/2014/main" id="{9E870698-F59D-48DA-89D0-7C680ACB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9F720E13-BB6A-48E3-B8C9-BF054A75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DD33F48-84C5-4040-9E19-A526241A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arch-0">
            <a:extLst xmlns:a="http://schemas.openxmlformats.org/drawingml/2006/main">
              <a:ext uri="{FF2B5EF4-FFF2-40B4-BE49-F238E27FC236}">
                <a16:creationId xmlns:a16="http://schemas.microsoft.com/office/drawing/2014/main" id="{48A88035-A769-4930-9296-061607C7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043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h-0">
            <a:extLst xmlns:a="http://schemas.openxmlformats.org/drawingml/2006/main">
              <a:ext uri="{FF2B5EF4-FFF2-40B4-BE49-F238E27FC236}">
                <a16:creationId xmlns:a16="http://schemas.microsoft.com/office/drawing/2014/main" id="{ED0BA2C1-33B6-4814-AE89-64257863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React 六工作区</a:t>
            </a:r>
          </a:p>
        </p:txBody>
      </p:sp>
      <p:sp>
        <p:nvSpPr>
          <p:cNvPr id="7" name="arch-b-0">
            <a:extLst xmlns:a="http://schemas.openxmlformats.org/drawingml/2006/main">
              <a:ext uri="{FF2B5EF4-FFF2-40B4-BE49-F238E27FC236}">
                <a16:creationId xmlns:a16="http://schemas.microsoft.com/office/drawing/2014/main" id="{3CB6B402-DD8F-419D-8DF6-EDC34419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5811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运营总览 · 事件调查 · 智能体 · 知识库 · 处置 · 报告审计</a:t>
            </a:r>
          </a:p>
        </p:txBody>
      </p:sp>
      <p:sp>
        <p:nvSpPr>
          <p:cNvPr id="8" name="arch-1">
            <a:extLst xmlns:a="http://schemas.openxmlformats.org/drawingml/2006/main">
              <a:ext uri="{FF2B5EF4-FFF2-40B4-BE49-F238E27FC236}">
                <a16:creationId xmlns:a16="http://schemas.microsoft.com/office/drawing/2014/main" id="{E0C4D390-5353-46E1-BE1A-13877377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043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h-1">
            <a:extLst xmlns:a="http://schemas.openxmlformats.org/drawingml/2006/main">
              <a:ext uri="{FF2B5EF4-FFF2-40B4-BE49-F238E27FC236}">
                <a16:creationId xmlns:a16="http://schemas.microsoft.com/office/drawing/2014/main" id="{0D092922-EAA5-47D8-8E46-EDCF3DCD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FastAPI 公共边界</a:t>
            </a:r>
          </a:p>
        </p:txBody>
      </p:sp>
      <p:sp>
        <p:nvSpPr>
          <p:cNvPr id="10" name="arch-b-1">
            <a:extLst xmlns:a="http://schemas.openxmlformats.org/drawingml/2006/main">
              <a:ext uri="{FF2B5EF4-FFF2-40B4-BE49-F238E27FC236}">
                <a16:creationId xmlns:a16="http://schemas.microsoft.com/office/drawing/2014/main" id="{9370A509-8132-4EBC-AA16-14049830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Host/CORS · 请求体预算 · 公开错误 · request ID · 白名单投影</a:t>
            </a:r>
          </a:p>
        </p:txBody>
      </p:sp>
      <p:sp>
        <p:nvSpPr>
          <p:cNvPr id="11" name="arch-2">
            <a:extLst xmlns:a="http://schemas.openxmlformats.org/drawingml/2006/main">
              <a:ext uri="{FF2B5EF4-FFF2-40B4-BE49-F238E27FC236}">
                <a16:creationId xmlns:a16="http://schemas.microsoft.com/office/drawing/2014/main" id="{1F52AA6D-CBE6-4A40-8652-60FC004A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43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ch-h-2">
            <a:extLst xmlns:a="http://schemas.openxmlformats.org/drawingml/2006/main">
              <a:ext uri="{FF2B5EF4-FFF2-40B4-BE49-F238E27FC236}">
                <a16:creationId xmlns:a16="http://schemas.microsoft.com/office/drawing/2014/main" id="{EFE52CB0-7D81-46B2-8862-3C326C16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领域闭环</a:t>
            </a:r>
          </a:p>
        </p:txBody>
      </p:sp>
      <p:sp>
        <p:nvSpPr>
          <p:cNvPr id="13" name="arch-b-2">
            <a:extLst xmlns:a="http://schemas.openxmlformats.org/drawingml/2006/main">
              <a:ext uri="{FF2B5EF4-FFF2-40B4-BE49-F238E27FC236}">
                <a16:creationId xmlns:a16="http://schemas.microsoft.com/office/drawing/2014/main" id="{CDC9D184-4B15-4452-B94C-B36E5CCE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909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事件 · RAG · 多智能体 · 受信工具 · ReAct · 报告</a:t>
            </a:r>
          </a:p>
        </p:txBody>
      </p:sp>
      <p:sp>
        <p:nvSpPr>
          <p:cNvPr id="14" name="arch-3">
            <a:extLst xmlns:a="http://schemas.openxmlformats.org/drawingml/2006/main">
              <a:ext uri="{FF2B5EF4-FFF2-40B4-BE49-F238E27FC236}">
                <a16:creationId xmlns:a16="http://schemas.microsoft.com/office/drawing/2014/main" id="{CBF0E6BE-77D1-4FA1-8417-A541CE25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1043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rch-h-3">
            <a:extLst xmlns:a="http://schemas.openxmlformats.org/drawingml/2006/main">
              <a:ext uri="{FF2B5EF4-FFF2-40B4-BE49-F238E27FC236}">
                <a16:creationId xmlns:a16="http://schemas.microsoft.com/office/drawing/2014/main" id="{583AF33B-ADAD-4FD3-AFCF-3570AF85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958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确定性基础</a:t>
            </a:r>
          </a:p>
        </p:txBody>
      </p:sp>
      <p:sp>
        <p:nvSpPr>
          <p:cNvPr id="16" name="arch-b-3">
            <a:extLst xmlns:a="http://schemas.openxmlformats.org/drawingml/2006/main">
              <a:ext uri="{FF2B5EF4-FFF2-40B4-BE49-F238E27FC236}">
                <a16:creationId xmlns:a16="http://schemas.microsoft.com/office/drawing/2014/main" id="{9DC37339-816D-4DCA-A436-CFC9A94D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895850"/>
            <a:ext cx="714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tenant/CAS · SQLite/Alembic · 策略审批 · 审计 · 生命周期</a:t>
            </a:r>
          </a:p>
        </p:txBody>
      </p:sp>
      <p:sp>
        <p:nvSpPr>
          <p:cNvPr id="17" name="arch-boundary">
            <a:extLst xmlns:a="http://schemas.openxmlformats.org/drawingml/2006/main">
              <a:ext uri="{FF2B5EF4-FFF2-40B4-BE49-F238E27FC236}">
                <a16:creationId xmlns:a16="http://schemas.microsoft.com/office/drawing/2014/main" id="{F6D748B4-31A3-4349-9628-7CD7C431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43600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真实模型、向量库与安全设备始终通过 adapter 接入</a:t>
            </a:r>
          </a:p>
        </p:txBody>
      </p:sp>
    </p:spTree>
    <p:extLst>
      <p:ext uri="{BB962C8B-B14F-4D97-AF65-F5344CB8AC3E}">
        <p14:creationId xmlns:p14="http://schemas.microsoft.com/office/powerpoint/2010/main" val="1391718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4">
            <a:extLst xmlns:a="http://schemas.openxmlformats.org/drawingml/2006/main">
              <a:ext uri="{FF2B5EF4-FFF2-40B4-BE49-F238E27FC236}">
                <a16:creationId xmlns:a16="http://schemas.microsoft.com/office/drawing/2014/main" id="{558D7755-1BB6-4E51-BC27-C1B4B4B3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一次处置必须走完证据—决策—动作—验证</a:t>
            </a:r>
          </a:p>
        </p:txBody>
      </p:sp>
      <p:sp>
        <p:nvSpPr>
          <p:cNvPr id="2" name="rule-4">
            <a:extLst xmlns:a="http://schemas.openxmlformats.org/drawingml/2006/main">
              <a:ext uri="{FF2B5EF4-FFF2-40B4-BE49-F238E27FC236}">
                <a16:creationId xmlns:a16="http://schemas.microsoft.com/office/drawing/2014/main" id="{7E763D64-6911-4048-AF05-3E240341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3EF5A253-A0E0-495B-B714-01776A32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C8A13EB-A441-4115-A232-D59957C9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loop-0">
            <a:extLst xmlns:a="http://schemas.openxmlformats.org/drawingml/2006/main">
              <a:ext uri="{FF2B5EF4-FFF2-40B4-BE49-F238E27FC236}">
                <a16:creationId xmlns:a16="http://schemas.microsoft.com/office/drawing/2014/main" id="{C4A47B76-89F0-48BE-ADA7-91389EE7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56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op-n-0">
            <a:extLst xmlns:a="http://schemas.openxmlformats.org/drawingml/2006/main">
              <a:ext uri="{FF2B5EF4-FFF2-40B4-BE49-F238E27FC236}">
                <a16:creationId xmlns:a16="http://schemas.microsoft.com/office/drawing/2014/main" id="{E57E55CD-C9C6-4976-9EEA-A7EF9CF3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loop-t-0">
            <a:extLst xmlns:a="http://schemas.openxmlformats.org/drawingml/2006/main">
              <a:ext uri="{FF2B5EF4-FFF2-40B4-BE49-F238E27FC236}">
                <a16:creationId xmlns:a16="http://schemas.microsoft.com/office/drawing/2014/main" id="{A8E9094C-BB49-4333-B773-9F6463D9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289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告警入库</a:t>
            </a:r>
          </a:p>
        </p:txBody>
      </p:sp>
      <p:sp>
        <p:nvSpPr>
          <p:cNvPr id="8" name="loop-arrow-0">
            <a:extLst xmlns:a="http://schemas.openxmlformats.org/drawingml/2006/main">
              <a:ext uri="{FF2B5EF4-FFF2-40B4-BE49-F238E27FC236}">
                <a16:creationId xmlns:a16="http://schemas.microsoft.com/office/drawing/2014/main" id="{714EAFBD-41EA-4F8F-9170-A2ACC257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19350"/>
            <a:ext cx="32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loop-1">
            <a:extLst xmlns:a="http://schemas.openxmlformats.org/drawingml/2006/main">
              <a:ext uri="{FF2B5EF4-FFF2-40B4-BE49-F238E27FC236}">
                <a16:creationId xmlns:a16="http://schemas.microsoft.com/office/drawing/2014/main" id="{7832323C-32CE-4579-BF44-1B034B44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156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op-n-1">
            <a:extLst xmlns:a="http://schemas.openxmlformats.org/drawingml/2006/main">
              <a:ext uri="{FF2B5EF4-FFF2-40B4-BE49-F238E27FC236}">
                <a16:creationId xmlns:a16="http://schemas.microsoft.com/office/drawing/2014/main" id="{30590BFA-E86F-46BC-BFF6-CEF48021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loop-t-1">
            <a:extLst xmlns:a="http://schemas.openxmlformats.org/drawingml/2006/main">
              <a:ext uri="{FF2B5EF4-FFF2-40B4-BE49-F238E27FC236}">
                <a16:creationId xmlns:a16="http://schemas.microsoft.com/office/drawing/2014/main" id="{4EC61E76-A7BE-4E0C-8A87-7E71AB49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6289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283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证据与 RAG</a:t>
            </a:r>
          </a:p>
        </p:txBody>
      </p:sp>
      <p:sp>
        <p:nvSpPr>
          <p:cNvPr id="12" name="loop-arrow-1">
            <a:extLst xmlns:a="http://schemas.openxmlformats.org/drawingml/2006/main">
              <a:ext uri="{FF2B5EF4-FFF2-40B4-BE49-F238E27FC236}">
                <a16:creationId xmlns:a16="http://schemas.microsoft.com/office/drawing/2014/main" id="{0786CE26-8CD0-497B-AAB7-40AD58CD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19350"/>
            <a:ext cx="32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loop-2">
            <a:extLst xmlns:a="http://schemas.openxmlformats.org/drawingml/2006/main">
              <a:ext uri="{FF2B5EF4-FFF2-40B4-BE49-F238E27FC236}">
                <a16:creationId xmlns:a16="http://schemas.microsoft.com/office/drawing/2014/main" id="{62E97C0E-F79B-44AC-AA7B-D3E0A31D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156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oop-n-2">
            <a:extLst xmlns:a="http://schemas.openxmlformats.org/drawingml/2006/main">
              <a:ext uri="{FF2B5EF4-FFF2-40B4-BE49-F238E27FC236}">
                <a16:creationId xmlns:a16="http://schemas.microsoft.com/office/drawing/2014/main" id="{3984B2E3-110D-4B32-8964-25187DB9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loop-t-2">
            <a:extLst xmlns:a="http://schemas.openxmlformats.org/drawingml/2006/main">
              <a:ext uri="{FF2B5EF4-FFF2-40B4-BE49-F238E27FC236}">
                <a16:creationId xmlns:a16="http://schemas.microsoft.com/office/drawing/2014/main" id="{F579DAF8-01F3-43C7-9DDF-674771AC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协作研判</a:t>
            </a:r>
          </a:p>
        </p:txBody>
      </p:sp>
      <p:sp>
        <p:nvSpPr>
          <p:cNvPr id="16" name="loop-arrow-2">
            <a:extLst xmlns:a="http://schemas.openxmlformats.org/drawingml/2006/main">
              <a:ext uri="{FF2B5EF4-FFF2-40B4-BE49-F238E27FC236}">
                <a16:creationId xmlns:a16="http://schemas.microsoft.com/office/drawing/2014/main" id="{D2D8E7F4-F41D-4986-AE99-EFE63953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19350"/>
            <a:ext cx="32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loop-3">
            <a:extLst xmlns:a="http://schemas.openxmlformats.org/drawingml/2006/main">
              <a:ext uri="{FF2B5EF4-FFF2-40B4-BE49-F238E27FC236}">
                <a16:creationId xmlns:a16="http://schemas.microsoft.com/office/drawing/2014/main" id="{1CF2F4AF-562A-4C39-9781-2AA3D18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156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oop-n-3">
            <a:extLst xmlns:a="http://schemas.openxmlformats.org/drawingml/2006/main">
              <a:ext uri="{FF2B5EF4-FFF2-40B4-BE49-F238E27FC236}">
                <a16:creationId xmlns:a16="http://schemas.microsoft.com/office/drawing/2014/main" id="{1079F58F-000C-4918-AE4A-CECBEF3F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loop-t-3">
            <a:extLst xmlns:a="http://schemas.openxmlformats.org/drawingml/2006/main">
              <a:ext uri="{FF2B5EF4-FFF2-40B4-BE49-F238E27FC236}">
                <a16:creationId xmlns:a16="http://schemas.microsoft.com/office/drawing/2014/main" id="{32762AA6-775F-4A82-849D-E3DC8E74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策略/审批</a:t>
            </a:r>
          </a:p>
        </p:txBody>
      </p:sp>
      <p:sp>
        <p:nvSpPr>
          <p:cNvPr id="20" name="loop-arrow-3">
            <a:extLst xmlns:a="http://schemas.openxmlformats.org/drawingml/2006/main">
              <a:ext uri="{FF2B5EF4-FFF2-40B4-BE49-F238E27FC236}">
                <a16:creationId xmlns:a16="http://schemas.microsoft.com/office/drawing/2014/main" id="{3BA48402-BB71-407A-B2A9-B6FD06B5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19350"/>
            <a:ext cx="32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loop-4">
            <a:extLst xmlns:a="http://schemas.openxmlformats.org/drawingml/2006/main">
              <a:ext uri="{FF2B5EF4-FFF2-40B4-BE49-F238E27FC236}">
                <a16:creationId xmlns:a16="http://schemas.microsoft.com/office/drawing/2014/main" id="{8324CF74-92F3-489B-A591-5694758E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156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loop-n-4">
            <a:extLst xmlns:a="http://schemas.openxmlformats.org/drawingml/2006/main">
              <a:ext uri="{FF2B5EF4-FFF2-40B4-BE49-F238E27FC236}">
                <a16:creationId xmlns:a16="http://schemas.microsoft.com/office/drawing/2014/main" id="{F68986EE-B491-4AD4-B435-8A7E9774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3" name="loop-t-4">
            <a:extLst xmlns:a="http://schemas.openxmlformats.org/drawingml/2006/main">
              <a:ext uri="{FF2B5EF4-FFF2-40B4-BE49-F238E27FC236}">
                <a16:creationId xmlns:a16="http://schemas.microsoft.com/office/drawing/2014/main" id="{74094863-D100-4B4C-B750-83FD3525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工具执行</a:t>
            </a:r>
          </a:p>
        </p:txBody>
      </p:sp>
      <p:sp>
        <p:nvSpPr>
          <p:cNvPr id="24" name="loop-arrow-4">
            <a:extLst xmlns:a="http://schemas.openxmlformats.org/drawingml/2006/main">
              <a:ext uri="{FF2B5EF4-FFF2-40B4-BE49-F238E27FC236}">
                <a16:creationId xmlns:a16="http://schemas.microsoft.com/office/drawing/2014/main" id="{2A4E1504-19B4-4520-B003-F42D7F27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19350"/>
            <a:ext cx="32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915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loop-5">
            <a:extLst xmlns:a="http://schemas.openxmlformats.org/drawingml/2006/main">
              <a:ext uri="{FF2B5EF4-FFF2-40B4-BE49-F238E27FC236}">
                <a16:creationId xmlns:a16="http://schemas.microsoft.com/office/drawing/2014/main" id="{0A0E6D3E-4E33-4D24-8A1D-113619FB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95500"/>
            <a:ext cx="15621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oop-n-5">
            <a:extLst xmlns:a="http://schemas.openxmlformats.org/drawingml/2006/main">
              <a:ext uri="{FF2B5EF4-FFF2-40B4-BE49-F238E27FC236}">
                <a16:creationId xmlns:a16="http://schemas.microsoft.com/office/drawing/2014/main" id="{D2A6B497-E2A3-48E7-8EF4-214382AC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098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7" name="loop-t-5">
            <a:extLst xmlns:a="http://schemas.openxmlformats.org/drawingml/2006/main">
              <a:ext uri="{FF2B5EF4-FFF2-40B4-BE49-F238E27FC236}">
                <a16:creationId xmlns:a16="http://schemas.microsoft.com/office/drawing/2014/main" id="{8AFE64B0-EE87-4BF3-8352-7359028B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289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再次验证</a:t>
            </a:r>
          </a:p>
        </p:txBody>
      </p:sp>
      <p:sp>
        <p:nvSpPr>
          <p:cNvPr id="28" name="react-band">
            <a:extLst xmlns:a="http://schemas.openxmlformats.org/drawingml/2006/main">
              <a:ext uri="{FF2B5EF4-FFF2-40B4-BE49-F238E27FC236}">
                <a16:creationId xmlns:a16="http://schemas.microsoft.com/office/drawing/2014/main" id="{6A9A74AF-0D15-4F00-86F3-E9B296C7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act-h">
            <a:extLst xmlns:a="http://schemas.openxmlformats.org/drawingml/2006/main">
              <a:ext uri="{FF2B5EF4-FFF2-40B4-BE49-F238E27FC236}">
                <a16:creationId xmlns:a16="http://schemas.microsoft.com/office/drawing/2014/main" id="{0D0E5F80-8642-45EA-BFA7-76DA3D18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48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35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35D00"/>
                </a:solidFill>
                <a:latin typeface="Microsoft YaHei"/>
                <a:ea typeface="Microsoft YaHei"/>
                <a:cs typeface="Microsoft YaHei"/>
              </a:rPr>
              <a:t>验证失败进入有界 ReAct</a:t>
            </a:r>
          </a:p>
        </p:txBody>
      </p:sp>
      <p:sp>
        <p:nvSpPr>
          <p:cNvPr id="30" name="react-b">
            <a:extLst xmlns:a="http://schemas.openxmlformats.org/drawingml/2006/main">
              <a:ext uri="{FF2B5EF4-FFF2-40B4-BE49-F238E27FC236}">
                <a16:creationId xmlns:a16="http://schemas.microsoft.com/office/drawing/2014/main" id="{A57D965F-4A05-4A48-98C0-5F8A65A6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4820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固定分类 · 服务端预算 · 循环检测 · proposal-only 重规划 · 人工接管</a:t>
            </a:r>
          </a:p>
        </p:txBody>
      </p:sp>
      <p:sp>
        <p:nvSpPr>
          <p:cNvPr id="31" name="loop-rule">
            <a:extLst xmlns:a="http://schemas.openxmlformats.org/drawingml/2006/main">
              <a:ext uri="{FF2B5EF4-FFF2-40B4-BE49-F238E27FC236}">
                <a16:creationId xmlns:a16="http://schemas.microsoft.com/office/drawing/2014/main" id="{3878EB71-511C-483A-80A5-4658DC57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8165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未知状态不继续；只有实际验证成功才能报告闭环。</a:t>
            </a:r>
          </a:p>
        </p:txBody>
      </p:sp>
    </p:spTree>
    <p:extLst>
      <p:ext uri="{BB962C8B-B14F-4D97-AF65-F5344CB8AC3E}">
        <p14:creationId xmlns:p14="http://schemas.microsoft.com/office/powerpoint/2010/main" val="16912104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5">
            <a:extLst xmlns:a="http://schemas.openxmlformats.org/drawingml/2006/main">
              <a:ext uri="{FF2B5EF4-FFF2-40B4-BE49-F238E27FC236}">
                <a16:creationId xmlns:a16="http://schemas.microsoft.com/office/drawing/2014/main" id="{8DF27005-C7AB-4E81-A433-4C75B2F1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三项创新共同约束智能体，而不是放大不确定性</a:t>
            </a:r>
          </a:p>
        </p:txBody>
      </p:sp>
      <p:sp>
        <p:nvSpPr>
          <p:cNvPr id="2" name="rule-5">
            <a:extLst xmlns:a="http://schemas.openxmlformats.org/drawingml/2006/main">
              <a:ext uri="{FF2B5EF4-FFF2-40B4-BE49-F238E27FC236}">
                <a16:creationId xmlns:a16="http://schemas.microsoft.com/office/drawing/2014/main" id="{818BD144-0822-4647-ABCE-FA5FDA1A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C9F49C22-077B-44B6-AD1F-E46084C4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6B82009A-3A29-4FB2-98B6-614941FE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innov-num-0">
            <a:extLst xmlns:a="http://schemas.openxmlformats.org/drawingml/2006/main">
              <a:ext uri="{FF2B5EF4-FFF2-40B4-BE49-F238E27FC236}">
                <a16:creationId xmlns:a16="http://schemas.microsoft.com/office/drawing/2014/main" id="{DB68723F-258A-47F8-8225-EE708FF4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innov-rule-0">
            <a:extLst xmlns:a="http://schemas.openxmlformats.org/drawingml/2006/main">
              <a:ext uri="{FF2B5EF4-FFF2-40B4-BE49-F238E27FC236}">
                <a16:creationId xmlns:a16="http://schemas.microsoft.com/office/drawing/2014/main" id="{02851AA0-660B-4CCE-84A6-439E2115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nnov-h-0">
            <a:extLst xmlns:a="http://schemas.openxmlformats.org/drawingml/2006/main">
              <a:ext uri="{FF2B5EF4-FFF2-40B4-BE49-F238E27FC236}">
                <a16:creationId xmlns:a16="http://schemas.microsoft.com/office/drawing/2014/main" id="{6392935A-1978-4FEB-AA7F-7964083A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上下文工程</a:t>
            </a:r>
          </a:p>
        </p:txBody>
      </p:sp>
      <p:sp>
        <p:nvSpPr>
          <p:cNvPr id="8" name="innov-b-0">
            <a:extLst xmlns:a="http://schemas.openxmlformats.org/drawingml/2006/main">
              <a:ext uri="{FF2B5EF4-FFF2-40B4-BE49-F238E27FC236}">
                <a16:creationId xmlns:a16="http://schemas.microsoft.com/office/drawing/2014/main" id="{4F7275A3-A5AB-43AD-A677-ED562BE4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3333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事实、假设、引用与工具结果分型；tenant-bound 交接与 token 预算</a:t>
            </a:r>
          </a:p>
        </p:txBody>
      </p:sp>
      <p:sp>
        <p:nvSpPr>
          <p:cNvPr id="9" name="innov-num-1">
            <a:extLst xmlns:a="http://schemas.openxmlformats.org/drawingml/2006/main">
              <a:ext uri="{FF2B5EF4-FFF2-40B4-BE49-F238E27FC236}">
                <a16:creationId xmlns:a16="http://schemas.microsoft.com/office/drawing/2014/main" id="{D10C8225-8178-4BD0-A7D2-10C43CA2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4305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innov-rule-1">
            <a:extLst xmlns:a="http://schemas.openxmlformats.org/drawingml/2006/main">
              <a:ext uri="{FF2B5EF4-FFF2-40B4-BE49-F238E27FC236}">
                <a16:creationId xmlns:a16="http://schemas.microsoft.com/office/drawing/2014/main" id="{1E5C37AB-CAF1-42E9-8DEE-9D883B51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2669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nov-h-1">
            <a:extLst xmlns:a="http://schemas.openxmlformats.org/drawingml/2006/main">
              <a:ext uri="{FF2B5EF4-FFF2-40B4-BE49-F238E27FC236}">
                <a16:creationId xmlns:a16="http://schemas.microsoft.com/office/drawing/2014/main" id="{DEDDC38A-EDE4-45F5-9C05-C8D58C99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336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受信工具网关</a:t>
            </a:r>
          </a:p>
        </p:txBody>
      </p:sp>
      <p:sp>
        <p:nvSpPr>
          <p:cNvPr id="12" name="innov-b-1">
            <a:extLst xmlns:a="http://schemas.openxmlformats.org/drawingml/2006/main">
              <a:ext uri="{FF2B5EF4-FFF2-40B4-BE49-F238E27FC236}">
                <a16:creationId xmlns:a16="http://schemas.microsoft.com/office/drawing/2014/main" id="{EF11A700-1354-4B05-8664-7A051FF2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57550"/>
            <a:ext cx="3333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注册、策略、审批、幂等、超时、恢复、紧急停止与审计统一入口</a:t>
            </a:r>
          </a:p>
        </p:txBody>
      </p:sp>
      <p:sp>
        <p:nvSpPr>
          <p:cNvPr id="13" name="innov-num-2">
            <a:extLst xmlns:a="http://schemas.openxmlformats.org/drawingml/2006/main">
              <a:ext uri="{FF2B5EF4-FFF2-40B4-BE49-F238E27FC236}">
                <a16:creationId xmlns:a16="http://schemas.microsoft.com/office/drawing/2014/main" id="{9DC555AF-A289-46FC-BBBA-1E25B50A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85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innov-rule-2">
            <a:extLst xmlns:a="http://schemas.openxmlformats.org/drawingml/2006/main">
              <a:ext uri="{FF2B5EF4-FFF2-40B4-BE49-F238E27FC236}">
                <a16:creationId xmlns:a16="http://schemas.microsoft.com/office/drawing/2014/main" id="{96709511-590F-4239-BB99-47A53F8C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nov-h-2">
            <a:extLst xmlns:a="http://schemas.openxmlformats.org/drawingml/2006/main">
              <a:ext uri="{FF2B5EF4-FFF2-40B4-BE49-F238E27FC236}">
                <a16:creationId xmlns:a16="http://schemas.microsoft.com/office/drawing/2014/main" id="{6301459F-BCB9-4F0D-87BB-2DE523B5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受控 ReAct</a:t>
            </a:r>
          </a:p>
        </p:txBody>
      </p:sp>
      <p:sp>
        <p:nvSpPr>
          <p:cNvPr id="16" name="innov-b-2">
            <a:extLst xmlns:a="http://schemas.openxmlformats.org/drawingml/2006/main">
              <a:ext uri="{FF2B5EF4-FFF2-40B4-BE49-F238E27FC236}">
                <a16:creationId xmlns:a16="http://schemas.microsoft.com/office/drawing/2014/main" id="{68388019-C544-42EB-B7BE-7D9FCE2D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57550"/>
            <a:ext cx="3333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观察与分类结构化；预算和循环由服务端控制；重规划不直接执行</a:t>
            </a:r>
          </a:p>
        </p:txBody>
      </p:sp>
      <p:sp>
        <p:nvSpPr>
          <p:cNvPr id="17" name="innov-close">
            <a:extLst xmlns:a="http://schemas.openxmlformats.org/drawingml/2006/main">
              <a:ext uri="{FF2B5EF4-FFF2-40B4-BE49-F238E27FC236}">
                <a16:creationId xmlns:a16="http://schemas.microsoft.com/office/drawing/2014/main" id="{1D2872E2-6CDA-4F7D-B03F-3C706135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1120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模型负责语义；代码负责权限、状态和执行。</a:t>
            </a:r>
          </a:p>
        </p:txBody>
      </p:sp>
    </p:spTree>
    <p:extLst>
      <p:ext uri="{BB962C8B-B14F-4D97-AF65-F5344CB8AC3E}">
        <p14:creationId xmlns:p14="http://schemas.microsoft.com/office/powerpoint/2010/main" val="386377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6">
            <a:extLst xmlns:a="http://schemas.openxmlformats.org/drawingml/2006/main">
              <a:ext uri="{FF2B5EF4-FFF2-40B4-BE49-F238E27FC236}">
                <a16:creationId xmlns:a16="http://schemas.microsoft.com/office/drawing/2014/main" id="{86F24308-6279-403E-9608-915C4C98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安全边界贯穿 API、执行、日志与容器</a:t>
            </a:r>
          </a:p>
        </p:txBody>
      </p:sp>
      <p:sp>
        <p:nvSpPr>
          <p:cNvPr id="2" name="rule-6">
            <a:extLst xmlns:a="http://schemas.openxmlformats.org/drawingml/2006/main">
              <a:ext uri="{FF2B5EF4-FFF2-40B4-BE49-F238E27FC236}">
                <a16:creationId xmlns:a16="http://schemas.microsoft.com/office/drawing/2014/main" id="{EE078C62-DCA7-4FBC-BF90-C81FF5D9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36E3CD8D-5897-4BE6-ABAC-66737A33D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35EB0D8D-6597-47A3-B794-EC74347F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bullet-dot-safe-l-0">
            <a:extLst xmlns:a="http://schemas.openxmlformats.org/drawingml/2006/main">
              <a:ext uri="{FF2B5EF4-FFF2-40B4-BE49-F238E27FC236}">
                <a16:creationId xmlns:a16="http://schemas.microsoft.com/office/drawing/2014/main" id="{637E6C41-37CF-43A8-B534-602E7D47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llet-safe-l-0">
            <a:extLst xmlns:a="http://schemas.openxmlformats.org/drawingml/2006/main">
              <a:ext uri="{FF2B5EF4-FFF2-40B4-BE49-F238E27FC236}">
                <a16:creationId xmlns:a16="http://schemas.microsoft.com/office/drawing/2014/main" id="{FC4043AD-9928-4D37-9790-C1CE2340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tenant 与 principal 不由浏览器自由提交</a:t>
            </a:r>
          </a:p>
        </p:txBody>
      </p:sp>
      <p:sp>
        <p:nvSpPr>
          <p:cNvPr id="7" name="bullet-dot-safe-l-1">
            <a:extLst xmlns:a="http://schemas.openxmlformats.org/drawingml/2006/main">
              <a:ext uri="{FF2B5EF4-FFF2-40B4-BE49-F238E27FC236}">
                <a16:creationId xmlns:a16="http://schemas.microsoft.com/office/drawing/2014/main" id="{54AE7058-BB6B-460A-9D69-9569F6DE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62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ullet-safe-l-1">
            <a:extLst xmlns:a="http://schemas.openxmlformats.org/drawingml/2006/main">
              <a:ext uri="{FF2B5EF4-FFF2-40B4-BE49-F238E27FC236}">
                <a16:creationId xmlns:a16="http://schemas.microsoft.com/office/drawing/2014/main" id="{739E2CC5-CFF6-4651-8EF2-1C5B7F20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所有变更使用 revision/CAS</a:t>
            </a:r>
          </a:p>
        </p:txBody>
      </p:sp>
      <p:sp>
        <p:nvSpPr>
          <p:cNvPr id="9" name="bullet-dot-safe-l-2">
            <a:extLst xmlns:a="http://schemas.openxmlformats.org/drawingml/2006/main">
              <a:ext uri="{FF2B5EF4-FFF2-40B4-BE49-F238E27FC236}">
                <a16:creationId xmlns:a16="http://schemas.microsoft.com/office/drawing/2014/main" id="{1C8FC18E-622B-427B-BED8-9C42ACED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llet-safe-l-2">
            <a:extLst xmlns:a="http://schemas.openxmlformats.org/drawingml/2006/main">
              <a:ext uri="{FF2B5EF4-FFF2-40B4-BE49-F238E27FC236}">
                <a16:creationId xmlns:a16="http://schemas.microsoft.com/office/drawing/2014/main" id="{5C1C0E65-3633-4573-B4E0-D5363817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工具动作必须经过策略或人工审批</a:t>
            </a:r>
          </a:p>
        </p:txBody>
      </p:sp>
      <p:sp>
        <p:nvSpPr>
          <p:cNvPr id="11" name="bullet-dot-safe-l-3">
            <a:extLst xmlns:a="http://schemas.openxmlformats.org/drawingml/2006/main">
              <a:ext uri="{FF2B5EF4-FFF2-40B4-BE49-F238E27FC236}">
                <a16:creationId xmlns:a16="http://schemas.microsoft.com/office/drawing/2014/main" id="{91840947-1EDF-4CF4-A8F6-D0EF14F1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llet-safe-l-3">
            <a:extLst xmlns:a="http://schemas.openxmlformats.org/drawingml/2006/main">
              <a:ext uri="{FF2B5EF4-FFF2-40B4-BE49-F238E27FC236}">
                <a16:creationId xmlns:a16="http://schemas.microsoft.com/office/drawing/2014/main" id="{96D0FAF8-C76F-41AC-A7B9-857D4976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7190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提示、思维链、凭据与原始 payload 不公开</a:t>
            </a:r>
          </a:p>
        </p:txBody>
      </p:sp>
      <p:sp>
        <p:nvSpPr>
          <p:cNvPr id="13" name="safe-right">
            <a:extLst xmlns:a="http://schemas.openxmlformats.org/drawingml/2006/main">
              <a:ext uri="{FF2B5EF4-FFF2-40B4-BE49-F238E27FC236}">
                <a16:creationId xmlns:a16="http://schemas.microsoft.com/office/drawing/2014/main" id="{05086E8F-847F-41E3-AC7B-647F683C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66850"/>
            <a:ext cx="495300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afe-right-h">
            <a:extLst xmlns:a="http://schemas.openxmlformats.org/drawingml/2006/main">
              <a:ext uri="{FF2B5EF4-FFF2-40B4-BE49-F238E27FC236}">
                <a16:creationId xmlns:a16="http://schemas.microsoft.com/office/drawing/2014/main" id="{FEA50725-F219-401A-BF20-61EE396A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145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部署默认值</a:t>
            </a:r>
          </a:p>
        </p:txBody>
      </p:sp>
      <p:sp>
        <p:nvSpPr>
          <p:cNvPr id="15" name="safe-r-0">
            <a:extLst xmlns:a="http://schemas.openxmlformats.org/drawingml/2006/main">
              <a:ext uri="{FF2B5EF4-FFF2-40B4-BE49-F238E27FC236}">
                <a16:creationId xmlns:a16="http://schemas.microsoft.com/office/drawing/2014/main" id="{1E0CB33D-F1F4-43E2-9815-14BD4317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66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rPr>
              <a:t>✓  非 root UID</a:t>
            </a:r>
          </a:p>
        </p:txBody>
      </p:sp>
      <p:sp>
        <p:nvSpPr>
          <p:cNvPr id="16" name="safe-r-1">
            <a:extLst xmlns:a="http://schemas.openxmlformats.org/drawingml/2006/main">
              <a:ext uri="{FF2B5EF4-FFF2-40B4-BE49-F238E27FC236}">
                <a16:creationId xmlns:a16="http://schemas.microsoft.com/office/drawing/2014/main" id="{D2367522-47EA-459E-AEDE-AE7F5F6F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955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rPr>
              <a:t>✓  只读根文件系统</a:t>
            </a:r>
          </a:p>
        </p:txBody>
      </p:sp>
      <p:sp>
        <p:nvSpPr>
          <p:cNvPr id="17" name="safe-r-2">
            <a:extLst xmlns:a="http://schemas.openxmlformats.org/drawingml/2006/main">
              <a:ext uri="{FF2B5EF4-FFF2-40B4-BE49-F238E27FC236}">
                <a16:creationId xmlns:a16="http://schemas.microsoft.com/office/drawing/2014/main" id="{DF8ABDF8-D0AF-477F-BD07-960D9D76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24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rPr>
              <a:t>✓  capabilities 全删除</a:t>
            </a:r>
          </a:p>
        </p:txBody>
      </p:sp>
      <p:sp>
        <p:nvSpPr>
          <p:cNvPr id="18" name="safe-r-3">
            <a:extLst xmlns:a="http://schemas.openxmlformats.org/drawingml/2006/main">
              <a:ext uri="{FF2B5EF4-FFF2-40B4-BE49-F238E27FC236}">
                <a16:creationId xmlns:a16="http://schemas.microsoft.com/office/drawing/2014/main" id="{0A2B9D48-2C9C-4236-849A-6B2CFCEF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528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rPr>
              <a:t>✓  no-new-privileges</a:t>
            </a:r>
          </a:p>
        </p:txBody>
      </p:sp>
      <p:sp>
        <p:nvSpPr>
          <p:cNvPr id="19" name="safe-r-4">
            <a:extLst xmlns:a="http://schemas.openxmlformats.org/drawingml/2006/main">
              <a:ext uri="{FF2B5EF4-FFF2-40B4-BE49-F238E27FC236}">
                <a16:creationId xmlns:a16="http://schemas.microsoft.com/office/drawing/2014/main" id="{9DE7C79C-6E7D-401C-A91C-E862AB19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814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  后端仅内部网络</a:t>
            </a:r>
          </a:p>
        </p:txBody>
      </p:sp>
      <p:sp>
        <p:nvSpPr>
          <p:cNvPr id="20" name="safe-r-5">
            <a:extLst xmlns:a="http://schemas.openxmlformats.org/drawingml/2006/main">
              <a:ext uri="{FF2B5EF4-FFF2-40B4-BE49-F238E27FC236}">
                <a16:creationId xmlns:a16="http://schemas.microsoft.com/office/drawing/2014/main" id="{D29C0FDB-0A62-4ECB-AC4E-4577AED7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100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✓  精确迁移 readiness</a:t>
            </a:r>
          </a:p>
        </p:txBody>
      </p:sp>
      <p:sp>
        <p:nvSpPr>
          <p:cNvPr id="21" name="safe-close">
            <a:extLst xmlns:a="http://schemas.openxmlformats.org/drawingml/2006/main">
              <a:ext uri="{FF2B5EF4-FFF2-40B4-BE49-F238E27FC236}">
                <a16:creationId xmlns:a16="http://schemas.microsoft.com/office/drawing/2014/main" id="{E5C8B4E4-5DD6-49E6-BCEF-4F361F31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0877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失败关闭不是异常路径，而是产品能力。</a:t>
            </a:r>
          </a:p>
        </p:txBody>
      </p:sp>
    </p:spTree>
    <p:extLst>
      <p:ext uri="{BB962C8B-B14F-4D97-AF65-F5344CB8AC3E}">
        <p14:creationId xmlns:p14="http://schemas.microsoft.com/office/powerpoint/2010/main" val="7397019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7">
            <a:extLst xmlns:a="http://schemas.openxmlformats.org/drawingml/2006/main">
              <a:ext uri="{FF2B5EF4-FFF2-40B4-BE49-F238E27FC236}">
                <a16:creationId xmlns:a16="http://schemas.microsoft.com/office/drawing/2014/main" id="{1766AD5E-54FA-449C-97E4-92C034A1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六个工作区把技术闭环变成可演示产品</a:t>
            </a:r>
          </a:p>
        </p:txBody>
      </p:sp>
      <p:sp>
        <p:nvSpPr>
          <p:cNvPr id="2" name="rule-7">
            <a:extLst xmlns:a="http://schemas.openxmlformats.org/drawingml/2006/main">
              <a:ext uri="{FF2B5EF4-FFF2-40B4-BE49-F238E27FC236}">
                <a16:creationId xmlns:a16="http://schemas.microsoft.com/office/drawing/2014/main" id="{8FFE58D2-0159-447A-8DD3-CC88798C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806EF892-1C9E-45ED-9297-16FC05AD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6D509652-4415-4A75-91E9-5491DAA7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oute-0">
            <a:extLst xmlns:a="http://schemas.openxmlformats.org/drawingml/2006/main">
              <a:ext uri="{FF2B5EF4-FFF2-40B4-BE49-F238E27FC236}">
                <a16:creationId xmlns:a16="http://schemas.microsoft.com/office/drawing/2014/main" id="{05A0A185-546B-48AE-94D9-B47F8B5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ute-mark-0">
            <a:extLst xmlns:a="http://schemas.openxmlformats.org/drawingml/2006/main">
              <a:ext uri="{FF2B5EF4-FFF2-40B4-BE49-F238E27FC236}">
                <a16:creationId xmlns:a16="http://schemas.microsoft.com/office/drawing/2014/main" id="{F76BC74B-911B-463F-B9D2-66004D93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总</a:t>
            </a:r>
          </a:p>
        </p:txBody>
      </p:sp>
      <p:sp>
        <p:nvSpPr>
          <p:cNvPr id="7" name="route-h-0">
            <a:extLst xmlns:a="http://schemas.openxmlformats.org/drawingml/2006/main">
              <a:ext uri="{FF2B5EF4-FFF2-40B4-BE49-F238E27FC236}">
                <a16:creationId xmlns:a16="http://schemas.microsoft.com/office/drawing/2014/main" id="{3F5D8454-BF0A-458A-B933-6C36C9C5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57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运营总览</a:t>
            </a:r>
          </a:p>
        </p:txBody>
      </p:sp>
      <p:sp>
        <p:nvSpPr>
          <p:cNvPr id="8" name="route-b-0">
            <a:extLst xmlns:a="http://schemas.openxmlformats.org/drawingml/2006/main">
              <a:ext uri="{FF2B5EF4-FFF2-40B4-BE49-F238E27FC236}">
                <a16:creationId xmlns:a16="http://schemas.microsoft.com/office/drawing/2014/main" id="{35A8AC1C-F455-4A62-A441-D4506842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980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态势与运行上下文</a:t>
            </a:r>
          </a:p>
        </p:txBody>
      </p:sp>
      <p:sp>
        <p:nvSpPr>
          <p:cNvPr id="9" name="route-1">
            <a:extLst xmlns:a="http://schemas.openxmlformats.org/drawingml/2006/main">
              <a:ext uri="{FF2B5EF4-FFF2-40B4-BE49-F238E27FC236}">
                <a16:creationId xmlns:a16="http://schemas.microsoft.com/office/drawing/2014/main" id="{31184110-C1D7-4DD4-9DAC-5A59D728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668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oute-mark-1">
            <a:extLst xmlns:a="http://schemas.openxmlformats.org/drawingml/2006/main">
              <a:ext uri="{FF2B5EF4-FFF2-40B4-BE49-F238E27FC236}">
                <a16:creationId xmlns:a16="http://schemas.microsoft.com/office/drawing/2014/main" id="{ECD12FD7-C809-40AD-BD59-4AE646BD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57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事</a:t>
            </a:r>
          </a:p>
        </p:txBody>
      </p:sp>
      <p:sp>
        <p:nvSpPr>
          <p:cNvPr id="11" name="route-h-1">
            <a:extLst xmlns:a="http://schemas.openxmlformats.org/drawingml/2006/main">
              <a:ext uri="{FF2B5EF4-FFF2-40B4-BE49-F238E27FC236}">
                <a16:creationId xmlns:a16="http://schemas.microsoft.com/office/drawing/2014/main" id="{3572BE2B-8207-45E3-AF05-AA333D5A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657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事件调查</a:t>
            </a:r>
          </a:p>
        </p:txBody>
      </p:sp>
      <p:sp>
        <p:nvSpPr>
          <p:cNvPr id="12" name="route-b-1">
            <a:extLst xmlns:a="http://schemas.openxmlformats.org/drawingml/2006/main">
              <a:ext uri="{FF2B5EF4-FFF2-40B4-BE49-F238E27FC236}">
                <a16:creationId xmlns:a16="http://schemas.microsoft.com/office/drawing/2014/main" id="{97C37DDE-6BB1-4390-8FE8-C3E6B21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0980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时间线、证据与闭环</a:t>
            </a:r>
          </a:p>
        </p:txBody>
      </p:sp>
      <p:sp>
        <p:nvSpPr>
          <p:cNvPr id="13" name="route-2">
            <a:extLst xmlns:a="http://schemas.openxmlformats.org/drawingml/2006/main">
              <a:ext uri="{FF2B5EF4-FFF2-40B4-BE49-F238E27FC236}">
                <a16:creationId xmlns:a16="http://schemas.microsoft.com/office/drawing/2014/main" id="{37EA5C38-9529-435A-8366-0E0DEDA0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668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ute-mark-2">
            <a:extLst xmlns:a="http://schemas.openxmlformats.org/drawingml/2006/main">
              <a:ext uri="{FF2B5EF4-FFF2-40B4-BE49-F238E27FC236}">
                <a16:creationId xmlns:a16="http://schemas.microsoft.com/office/drawing/2014/main" id="{E27635FF-AF5C-4FEF-A754-A499FDC1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57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智</a:t>
            </a:r>
          </a:p>
        </p:txBody>
      </p:sp>
      <p:sp>
        <p:nvSpPr>
          <p:cNvPr id="15" name="route-h-2">
            <a:extLst xmlns:a="http://schemas.openxmlformats.org/drawingml/2006/main">
              <a:ext uri="{FF2B5EF4-FFF2-40B4-BE49-F238E27FC236}">
                <a16:creationId xmlns:a16="http://schemas.microsoft.com/office/drawing/2014/main" id="{68642A4D-748E-4F08-88B6-29EEC3D1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5735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智能体</a:t>
            </a:r>
          </a:p>
        </p:txBody>
      </p:sp>
      <p:sp>
        <p:nvSpPr>
          <p:cNvPr id="16" name="route-b-2">
            <a:extLst xmlns:a="http://schemas.openxmlformats.org/drawingml/2006/main">
              <a:ext uri="{FF2B5EF4-FFF2-40B4-BE49-F238E27FC236}">
                <a16:creationId xmlns:a16="http://schemas.microsoft.com/office/drawing/2014/main" id="{9B250190-F0E3-4F65-BBAE-E94A6DB5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协作与 ReAct 轨迹</a:t>
            </a:r>
          </a:p>
        </p:txBody>
      </p:sp>
      <p:sp>
        <p:nvSpPr>
          <p:cNvPr id="17" name="route-3">
            <a:extLst xmlns:a="http://schemas.openxmlformats.org/drawingml/2006/main">
              <a:ext uri="{FF2B5EF4-FFF2-40B4-BE49-F238E27FC236}">
                <a16:creationId xmlns:a16="http://schemas.microsoft.com/office/drawing/2014/main" id="{5D4B64DC-CD15-4E3D-81C0-EA2C9353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6710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oute-mark-3">
            <a:extLst xmlns:a="http://schemas.openxmlformats.org/drawingml/2006/main">
              <a:ext uri="{FF2B5EF4-FFF2-40B4-BE49-F238E27FC236}">
                <a16:creationId xmlns:a16="http://schemas.microsoft.com/office/drawing/2014/main" id="{0AF97752-34B6-49EA-8991-020D268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知</a:t>
            </a:r>
          </a:p>
        </p:txBody>
      </p:sp>
      <p:sp>
        <p:nvSpPr>
          <p:cNvPr id="19" name="route-h-3">
            <a:extLst xmlns:a="http://schemas.openxmlformats.org/drawingml/2006/main">
              <a:ext uri="{FF2B5EF4-FFF2-40B4-BE49-F238E27FC236}">
                <a16:creationId xmlns:a16="http://schemas.microsoft.com/office/drawing/2014/main" id="{E9119B71-0083-475A-B2DC-F9B96FDD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576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20" name="route-b-3">
            <a:extLst xmlns:a="http://schemas.openxmlformats.org/drawingml/2006/main">
              <a:ext uri="{FF2B5EF4-FFF2-40B4-BE49-F238E27FC236}">
                <a16:creationId xmlns:a16="http://schemas.microsoft.com/office/drawing/2014/main" id="{AAC6364D-4275-427B-B148-49293DDF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100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文档、检索与引用</a:t>
            </a:r>
          </a:p>
        </p:txBody>
      </p:sp>
      <p:sp>
        <p:nvSpPr>
          <p:cNvPr id="21" name="route-4">
            <a:extLst xmlns:a="http://schemas.openxmlformats.org/drawingml/2006/main">
              <a:ext uri="{FF2B5EF4-FFF2-40B4-BE49-F238E27FC236}">
                <a16:creationId xmlns:a16="http://schemas.microsoft.com/office/drawing/2014/main" id="{F56FC837-471C-45E5-B79B-77924C8A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6710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ute-mark-4">
            <a:extLst xmlns:a="http://schemas.openxmlformats.org/drawingml/2006/main">
              <a:ext uri="{FF2B5EF4-FFF2-40B4-BE49-F238E27FC236}">
                <a16:creationId xmlns:a16="http://schemas.microsoft.com/office/drawing/2014/main" id="{723D70A3-9DDF-4D42-B90A-80494FF0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5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处</a:t>
            </a:r>
          </a:p>
        </p:txBody>
      </p:sp>
      <p:sp>
        <p:nvSpPr>
          <p:cNvPr id="23" name="route-h-4">
            <a:extLst xmlns:a="http://schemas.openxmlformats.org/drawingml/2006/main">
              <a:ext uri="{FF2B5EF4-FFF2-40B4-BE49-F238E27FC236}">
                <a16:creationId xmlns:a16="http://schemas.microsoft.com/office/drawing/2014/main" id="{2EA26284-EA9A-4120-9F50-ECF73BAF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6576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处置中心</a:t>
            </a:r>
          </a:p>
        </p:txBody>
      </p:sp>
      <p:sp>
        <p:nvSpPr>
          <p:cNvPr id="24" name="route-b-4">
            <a:extLst xmlns:a="http://schemas.openxmlformats.org/drawingml/2006/main">
              <a:ext uri="{FF2B5EF4-FFF2-40B4-BE49-F238E27FC236}">
                <a16:creationId xmlns:a16="http://schemas.microsoft.com/office/drawing/2014/main" id="{3488965B-C8C2-4610-9C74-0484413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100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审批与工具轨迹</a:t>
            </a:r>
          </a:p>
        </p:txBody>
      </p:sp>
      <p:sp>
        <p:nvSpPr>
          <p:cNvPr id="25" name="route-5">
            <a:extLst xmlns:a="http://schemas.openxmlformats.org/drawingml/2006/main">
              <a:ext uri="{FF2B5EF4-FFF2-40B4-BE49-F238E27FC236}">
                <a16:creationId xmlns:a16="http://schemas.microsoft.com/office/drawing/2014/main" id="{AB3F4911-AD55-4A51-8DE2-38D2993C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6710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oute-mark-5">
            <a:extLst xmlns:a="http://schemas.openxmlformats.org/drawingml/2006/main">
              <a:ext uri="{FF2B5EF4-FFF2-40B4-BE49-F238E27FC236}">
                <a16:creationId xmlns:a16="http://schemas.microsoft.com/office/drawing/2014/main" id="{E306A408-0195-49BD-AEBF-F1089869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576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报</a:t>
            </a:r>
          </a:p>
        </p:txBody>
      </p:sp>
      <p:sp>
        <p:nvSpPr>
          <p:cNvPr id="27" name="route-h-5">
            <a:extLst xmlns:a="http://schemas.openxmlformats.org/drawingml/2006/main">
              <a:ext uri="{FF2B5EF4-FFF2-40B4-BE49-F238E27FC236}">
                <a16:creationId xmlns:a16="http://schemas.microsoft.com/office/drawing/2014/main" id="{85D0CEA2-64F4-49C6-873E-A43E68F6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57600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报告审计</a:t>
            </a:r>
          </a:p>
        </p:txBody>
      </p:sp>
      <p:sp>
        <p:nvSpPr>
          <p:cNvPr id="28" name="route-b-5">
            <a:extLst xmlns:a="http://schemas.openxmlformats.org/drawingml/2006/main">
              <a:ext uri="{FF2B5EF4-FFF2-40B4-BE49-F238E27FC236}">
                <a16:creationId xmlns:a16="http://schemas.microsoft.com/office/drawing/2014/main" id="{C4F5041E-8650-4209-839E-B26DEB2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0050"/>
            <a:ext cx="2266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只读汇总与审计</a:t>
            </a:r>
          </a:p>
        </p:txBody>
      </p:sp>
      <p:sp>
        <p:nvSpPr>
          <p:cNvPr id="29" name="route-close">
            <a:extLst xmlns:a="http://schemas.openxmlformats.org/drawingml/2006/main">
              <a:ext uri="{FF2B5EF4-FFF2-40B4-BE49-F238E27FC236}">
                <a16:creationId xmlns:a16="http://schemas.microsoft.com/office/drawing/2014/main" id="{49B19C7C-96D6-4CC7-8FE0-470F2F67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所有页面只消费公开白名单投影</a:t>
            </a:r>
          </a:p>
        </p:txBody>
      </p:sp>
    </p:spTree>
    <p:extLst>
      <p:ext uri="{BB962C8B-B14F-4D97-AF65-F5344CB8AC3E}">
        <p14:creationId xmlns:p14="http://schemas.microsoft.com/office/powerpoint/2010/main" val="7504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8">
            <a:extLst xmlns:a="http://schemas.openxmlformats.org/drawingml/2006/main">
              <a:ext uri="{FF2B5EF4-FFF2-40B4-BE49-F238E27FC236}">
                <a16:creationId xmlns:a16="http://schemas.microsoft.com/office/drawing/2014/main" id="{370A9A37-83AD-4750-9E75-F5831BAA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验证证据覆盖功能、安全、性能与交付</a:t>
            </a:r>
          </a:p>
        </p:txBody>
      </p:sp>
      <p:sp>
        <p:nvSpPr>
          <p:cNvPr id="2" name="rule-8">
            <a:extLst xmlns:a="http://schemas.openxmlformats.org/drawingml/2006/main">
              <a:ext uri="{FF2B5EF4-FFF2-40B4-BE49-F238E27FC236}">
                <a16:creationId xmlns:a16="http://schemas.microsoft.com/office/drawing/2014/main" id="{B1682D42-7489-4E4B-886D-406F38E5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E3D0FC8A-74F3-458D-979C-84E142A9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3229585B-700E-4AAF-A48C-2DBF2258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metric-lead">
            <a:extLst xmlns:a="http://schemas.openxmlformats.org/drawingml/2006/main">
              <a:ext uri="{FF2B5EF4-FFF2-40B4-BE49-F238E27FC236}">
                <a16:creationId xmlns:a16="http://schemas.microsoft.com/office/drawing/2014/main" id="{3782391C-B5AC-4E7A-8FAF-946323A1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95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当前本地可复现结果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283E6AB6-64E9-44B4-A094-9F95239E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21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ric-v-0">
            <a:extLst xmlns:a="http://schemas.openxmlformats.org/drawingml/2006/main">
              <a:ext uri="{FF2B5EF4-FFF2-40B4-BE49-F238E27FC236}">
                <a16:creationId xmlns:a16="http://schemas.microsoft.com/office/drawing/2014/main" id="{93D78FA3-425C-4A6E-8B3B-C80FEB12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1027</a:t>
            </a:r>
          </a:p>
        </p:txBody>
      </p:sp>
      <p:sp>
        <p:nvSpPr>
          <p:cNvPr id="8" name="metric-l-0">
            <a:extLst xmlns:a="http://schemas.openxmlformats.org/drawingml/2006/main">
              <a:ext uri="{FF2B5EF4-FFF2-40B4-BE49-F238E27FC236}">
                <a16:creationId xmlns:a16="http://schemas.microsoft.com/office/drawing/2014/main" id="{271CEC49-F8F8-4819-A97C-EAB44DC6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后端测试通过</a:t>
            </a:r>
          </a:p>
        </p:txBody>
      </p:sp>
      <p:sp>
        <p:nvSpPr>
          <p:cNvPr id="9" name="metric-1">
            <a:extLst xmlns:a="http://schemas.openxmlformats.org/drawingml/2006/main">
              <a:ext uri="{FF2B5EF4-FFF2-40B4-BE49-F238E27FC236}">
                <a16:creationId xmlns:a16="http://schemas.microsoft.com/office/drawing/2014/main" id="{121275B1-F4A6-44CC-8910-442D73DC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621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-1">
            <a:extLst xmlns:a="http://schemas.openxmlformats.org/drawingml/2006/main">
              <a:ext uri="{FF2B5EF4-FFF2-40B4-BE49-F238E27FC236}">
                <a16:creationId xmlns:a16="http://schemas.microsoft.com/office/drawing/2014/main" id="{F148457F-818C-4734-AD18-14123DBA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8A5A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  <p:sp>
        <p:nvSpPr>
          <p:cNvPr id="11" name="metric-l-1">
            <a:extLst xmlns:a="http://schemas.openxmlformats.org/drawingml/2006/main">
              <a:ext uri="{FF2B5EF4-FFF2-40B4-BE49-F238E27FC236}">
                <a16:creationId xmlns:a16="http://schemas.microsoft.com/office/drawing/2014/main" id="{EB79652D-50A6-47C3-8363-2C680756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前端测试通过</a:t>
            </a:r>
          </a:p>
        </p:txBody>
      </p:sp>
      <p:sp>
        <p:nvSpPr>
          <p:cNvPr id="12" name="metric-2">
            <a:extLst xmlns:a="http://schemas.openxmlformats.org/drawingml/2006/main">
              <a:ext uri="{FF2B5EF4-FFF2-40B4-BE49-F238E27FC236}">
                <a16:creationId xmlns:a16="http://schemas.microsoft.com/office/drawing/2014/main" id="{12E7B891-7E45-4EA1-AA84-5FF4B0C8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62150"/>
            <a:ext cx="3429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-2">
            <a:extLst xmlns:a="http://schemas.openxmlformats.org/drawingml/2006/main">
              <a:ext uri="{FF2B5EF4-FFF2-40B4-BE49-F238E27FC236}">
                <a16:creationId xmlns:a16="http://schemas.microsoft.com/office/drawing/2014/main" id="{5E78DF72-FE48-4E3A-8C32-3FB304FF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2971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35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A35D00"/>
                </a:solidFill>
                <a:latin typeface="Microsoft YaHei"/>
                <a:ea typeface="Microsoft YaHei"/>
                <a:cs typeface="Microsoft YaHei"/>
              </a:rPr>
              <a:t>2.499 ms</a:t>
            </a:r>
          </a:p>
        </p:txBody>
      </p:sp>
      <p:sp>
        <p:nvSpPr>
          <p:cNvPr id="14" name="metric-l-2">
            <a:extLst xmlns:a="http://schemas.openxmlformats.org/drawingml/2006/main">
              <a:ext uri="{FF2B5EF4-FFF2-40B4-BE49-F238E27FC236}">
                <a16:creationId xmlns:a16="http://schemas.microsoft.com/office/drawing/2014/main" id="{B02504E6-8EB1-4D3A-86DA-7A352E40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95650"/>
            <a:ext cx="2971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liveness p95</a:t>
            </a:r>
          </a:p>
        </p:txBody>
      </p:sp>
      <p:sp>
        <p:nvSpPr>
          <p:cNvPr id="15" name="bullet-dot-metric-a">
            <a:extLst xmlns:a="http://schemas.openxmlformats.org/drawingml/2006/main">
              <a:ext uri="{FF2B5EF4-FFF2-40B4-BE49-F238E27FC236}">
                <a16:creationId xmlns:a16="http://schemas.microsoft.com/office/drawing/2014/main" id="{A41A019B-CFC1-4031-865D-4357EDF1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bullet-metric-a">
            <a:extLst xmlns:a="http://schemas.openxmlformats.org/drawingml/2006/main">
              <a:ext uri="{FF2B5EF4-FFF2-40B4-BE49-F238E27FC236}">
                <a16:creationId xmlns:a16="http://schemas.microsoft.com/office/drawing/2014/main" id="{C5994CB0-4F82-4E0D-845F-3A16A870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完整后端：1027 passed，1 skipped</a:t>
            </a:r>
          </a:p>
        </p:txBody>
      </p:sp>
      <p:sp>
        <p:nvSpPr>
          <p:cNvPr id="17" name="bullet-dot-metric-b">
            <a:extLst xmlns:a="http://schemas.openxmlformats.org/drawingml/2006/main">
              <a:ext uri="{FF2B5EF4-FFF2-40B4-BE49-F238E27FC236}">
                <a16:creationId xmlns:a16="http://schemas.microsoft.com/office/drawing/2014/main" id="{8AA624E2-6BC9-4418-97B5-B78312B0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bullet-metric-b">
            <a:extLst xmlns:a="http://schemas.openxmlformats.org/drawingml/2006/main">
              <a:ext uri="{FF2B5EF4-FFF2-40B4-BE49-F238E27FC236}">
                <a16:creationId xmlns:a16="http://schemas.microsoft.com/office/drawing/2014/main" id="{EAC64792-B6A4-4EA3-A750-C8C0ECD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PowerShell 脚本合同：53 passed</a:t>
            </a:r>
          </a:p>
        </p:txBody>
      </p:sp>
      <p:sp>
        <p:nvSpPr>
          <p:cNvPr id="19" name="bullet-dot-metric-c">
            <a:extLst xmlns:a="http://schemas.openxmlformats.org/drawingml/2006/main">
              <a:ext uri="{FF2B5EF4-FFF2-40B4-BE49-F238E27FC236}">
                <a16:creationId xmlns:a16="http://schemas.microsoft.com/office/drawing/2014/main" id="{AE0A4038-4FCD-4DDE-86C5-94ADFC14D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ullet-metric-c">
            <a:extLst xmlns:a="http://schemas.openxmlformats.org/drawingml/2006/main">
              <a:ext uri="{FF2B5EF4-FFF2-40B4-BE49-F238E27FC236}">
                <a16:creationId xmlns:a16="http://schemas.microsoft.com/office/drawing/2014/main" id="{6D64D403-7B47-4A2A-92A2-9249B3F4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2915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容器/供应链静态合同：10 passed</a:t>
            </a:r>
          </a:p>
        </p:txBody>
      </p:sp>
      <p:sp>
        <p:nvSpPr>
          <p:cNvPr id="21" name="bullet-dot-metric-d">
            <a:extLst xmlns:a="http://schemas.openxmlformats.org/drawingml/2006/main">
              <a:ext uri="{FF2B5EF4-FFF2-40B4-BE49-F238E27FC236}">
                <a16:creationId xmlns:a16="http://schemas.microsoft.com/office/drawing/2014/main" id="{9DC43FD2-329D-480F-990A-7601B51F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95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ullet-metric-d">
            <a:extLst xmlns:a="http://schemas.openxmlformats.org/drawingml/2006/main">
              <a:ext uri="{FF2B5EF4-FFF2-40B4-BE49-F238E27FC236}">
                <a16:creationId xmlns:a16="http://schemas.microsoft.com/office/drawing/2014/main" id="{C835A56A-79D0-4A44-AAF0-0EDA562FA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219700"/>
            <a:ext cx="4724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RAG 数据集加载 p95：0.114 ms</a:t>
            </a:r>
          </a:p>
        </p:txBody>
      </p:sp>
    </p:spTree>
    <p:extLst>
      <p:ext uri="{BB962C8B-B14F-4D97-AF65-F5344CB8AC3E}">
        <p14:creationId xmlns:p14="http://schemas.microsoft.com/office/powerpoint/2010/main" val="2084403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9">
            <a:extLst xmlns:a="http://schemas.openxmlformats.org/drawingml/2006/main">
              <a:ext uri="{FF2B5EF4-FFF2-40B4-BE49-F238E27FC236}">
                <a16:creationId xmlns:a16="http://schemas.microsoft.com/office/drawing/2014/main" id="{D98C93E2-6408-4E39-A8C4-0FF3FA31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可信交付也要明确说出尚未验证什么</a:t>
            </a:r>
          </a:p>
        </p:txBody>
      </p:sp>
      <p:sp>
        <p:nvSpPr>
          <p:cNvPr id="2" name="rule-9">
            <a:extLst xmlns:a="http://schemas.openxmlformats.org/drawingml/2006/main">
              <a:ext uri="{FF2B5EF4-FFF2-40B4-BE49-F238E27FC236}">
                <a16:creationId xmlns:a16="http://schemas.microsoft.com/office/drawing/2014/main" id="{ADC60747-81E3-4E46-992B-CC535CB9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2A67189A-F0EE-4CE3-BDE4-12184158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· Phase 8</a:t>
            </a:r>
          </a:p>
        </p:txBody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8A6219D2-544E-4F54-9FEF-CECCB208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boundary-left">
            <a:extLst xmlns:a="http://schemas.openxmlformats.org/drawingml/2006/main">
              <a:ext uri="{FF2B5EF4-FFF2-40B4-BE49-F238E27FC236}">
                <a16:creationId xmlns:a16="http://schemas.microsoft.com/office/drawing/2014/main" id="{8BF77AD4-2C67-4EDD-8EE3-2960B9B5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52959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oundary-h">
            <a:extLst xmlns:a="http://schemas.openxmlformats.org/drawingml/2006/main">
              <a:ext uri="{FF2B5EF4-FFF2-40B4-BE49-F238E27FC236}">
                <a16:creationId xmlns:a16="http://schemas.microsoft.com/office/drawing/2014/main" id="{BA648B74-ECE6-45DB-9248-D9B48764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35D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35D00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7" name="boundary-0">
            <a:extLst xmlns:a="http://schemas.openxmlformats.org/drawingml/2006/main">
              <a:ext uri="{FF2B5EF4-FFF2-40B4-BE49-F238E27FC236}">
                <a16:creationId xmlns:a16="http://schemas.microsoft.com/office/drawing/2014/main" id="{A4B19E4E-FD3B-4AA8-BE53-BFD25D9B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—  Docker runtime 未测</a:t>
            </a:r>
          </a:p>
        </p:txBody>
      </p:sp>
      <p:sp>
        <p:nvSpPr>
          <p:cNvPr id="8" name="boundary-1">
            <a:extLst xmlns:a="http://schemas.openxmlformats.org/drawingml/2006/main">
              <a:ext uri="{FF2B5EF4-FFF2-40B4-BE49-F238E27FC236}">
                <a16:creationId xmlns:a16="http://schemas.microsoft.com/office/drawing/2014/main" id="{8A093AB3-88CB-411B-9871-9EFFB71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—  GitHub CI 未远端执行</a:t>
            </a:r>
          </a:p>
        </p:txBody>
      </p:sp>
      <p:sp>
        <p:nvSpPr>
          <p:cNvPr id="9" name="boundary-2">
            <a:extLst xmlns:a="http://schemas.openxmlformats.org/drawingml/2006/main">
              <a:ext uri="{FF2B5EF4-FFF2-40B4-BE49-F238E27FC236}">
                <a16:creationId xmlns:a16="http://schemas.microsoft.com/office/drawing/2014/main" id="{438D3FEA-D613-44E2-B42A-FC818AA6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671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—  真实模型规划未测</a:t>
            </a:r>
          </a:p>
        </p:txBody>
      </p:sp>
      <p:sp>
        <p:nvSpPr>
          <p:cNvPr id="10" name="boundary-3">
            <a:extLst xmlns:a="http://schemas.openxmlformats.org/drawingml/2006/main">
              <a:ext uri="{FF2B5EF4-FFF2-40B4-BE49-F238E27FC236}">
                <a16:creationId xmlns:a16="http://schemas.microsoft.com/office/drawing/2014/main" id="{8B5D089F-BF77-4AFB-9F81-ECF28631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—  真实安全设备未接入</a:t>
            </a:r>
          </a:p>
        </p:txBody>
      </p:sp>
      <p:sp>
        <p:nvSpPr>
          <p:cNvPr id="11" name="boundary-4">
            <a:extLst xmlns:a="http://schemas.openxmlformats.org/drawingml/2006/main">
              <a:ext uri="{FF2B5EF4-FFF2-40B4-BE49-F238E27FC236}">
                <a16:creationId xmlns:a16="http://schemas.microsoft.com/office/drawing/2014/main" id="{E6B82C13-A93B-4C93-993D-2E1CF60F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—  外部网络链路未验收</a:t>
            </a:r>
          </a:p>
        </p:txBody>
      </p:sp>
      <p:sp>
        <p:nvSpPr>
          <p:cNvPr id="12" name="roadmap-h">
            <a:extLst xmlns:a="http://schemas.openxmlformats.org/drawingml/2006/main">
              <a:ext uri="{FF2B5EF4-FFF2-40B4-BE49-F238E27FC236}">
                <a16:creationId xmlns:a16="http://schemas.microsoft.com/office/drawing/2014/main" id="{68DC3685-524D-4205-AA1A-80C026B4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3" name="roadmap-n-0">
            <a:extLst xmlns:a="http://schemas.openxmlformats.org/drawingml/2006/main">
              <a:ext uri="{FF2B5EF4-FFF2-40B4-BE49-F238E27FC236}">
                <a16:creationId xmlns:a16="http://schemas.microsoft.com/office/drawing/2014/main" id="{0B2916D5-393E-4B0D-91DD-6B5A7EB1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roadmap-t-0">
            <a:extLst xmlns:a="http://schemas.openxmlformats.org/drawingml/2006/main">
              <a:ext uri="{FF2B5EF4-FFF2-40B4-BE49-F238E27FC236}">
                <a16:creationId xmlns:a16="http://schemas.microsoft.com/office/drawing/2014/main" id="{E2A8A0A8-0CE9-4905-B37D-99F9EFBB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19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Docker 环境补充 runtime smoke</a:t>
            </a:r>
          </a:p>
        </p:txBody>
      </p:sp>
      <p:sp>
        <p:nvSpPr>
          <p:cNvPr id="15" name="roadmap-n-1">
            <a:extLst xmlns:a="http://schemas.openxmlformats.org/drawingml/2006/main">
              <a:ext uri="{FF2B5EF4-FFF2-40B4-BE49-F238E27FC236}">
                <a16:creationId xmlns:a16="http://schemas.microsoft.com/office/drawing/2014/main" id="{0152B700-2DA7-40C4-BF94-6C6C3A76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oadmap-t-1">
            <a:extLst xmlns:a="http://schemas.openxmlformats.org/drawingml/2006/main">
              <a:ext uri="{FF2B5EF4-FFF2-40B4-BE49-F238E27FC236}">
                <a16:creationId xmlns:a16="http://schemas.microsoft.com/office/drawing/2014/main" id="{C383DA8A-6837-44C7-8570-0D3F87AE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受管数据库与备份恢复</a:t>
            </a:r>
          </a:p>
        </p:txBody>
      </p:sp>
      <p:sp>
        <p:nvSpPr>
          <p:cNvPr id="17" name="roadmap-n-2">
            <a:extLst xmlns:a="http://schemas.openxmlformats.org/drawingml/2006/main">
              <a:ext uri="{FF2B5EF4-FFF2-40B4-BE49-F238E27FC236}">
                <a16:creationId xmlns:a16="http://schemas.microsoft.com/office/drawing/2014/main" id="{C9C3C083-661B-4F98-B5CD-ECCF9C7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671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roadmap-t-2">
            <a:extLst xmlns:a="http://schemas.openxmlformats.org/drawingml/2006/main">
              <a:ext uri="{FF2B5EF4-FFF2-40B4-BE49-F238E27FC236}">
                <a16:creationId xmlns:a16="http://schemas.microsoft.com/office/drawing/2014/main" id="{3314D015-4DFA-48FA-B7B2-D42A5C8A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授权真实适配器灰度验收</a:t>
            </a:r>
          </a:p>
        </p:txBody>
      </p:sp>
      <p:sp>
        <p:nvSpPr>
          <p:cNvPr id="19" name="roadmap-n-3">
            <a:extLst xmlns:a="http://schemas.openxmlformats.org/drawingml/2006/main">
              <a:ext uri="{FF2B5EF4-FFF2-40B4-BE49-F238E27FC236}">
                <a16:creationId xmlns:a16="http://schemas.microsoft.com/office/drawing/2014/main" id="{1386D620-0C72-473D-95FD-B8DE9DBD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roadmap-t-3">
            <a:extLst xmlns:a="http://schemas.openxmlformats.org/drawingml/2006/main">
              <a:ext uri="{FF2B5EF4-FFF2-40B4-BE49-F238E27FC236}">
                <a16:creationId xmlns:a16="http://schemas.microsoft.com/office/drawing/2014/main" id="{FFF4C1CE-19F7-4CFE-9193-1F345026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镜像签名与持续漏洞扫描</a:t>
            </a:r>
          </a:p>
        </p:txBody>
      </p:sp>
      <p:sp>
        <p:nvSpPr>
          <p:cNvPr id="21" name="boundary-close">
            <a:extLst xmlns:a="http://schemas.openxmlformats.org/drawingml/2006/main">
              <a:ext uri="{FF2B5EF4-FFF2-40B4-BE49-F238E27FC236}">
                <a16:creationId xmlns:a16="http://schemas.microsoft.com/office/drawing/2014/main" id="{F3EDEBA5-0E3E-494E-A4C3-72D012EE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离线成功不替代真实链路验收。</a:t>
            </a:r>
          </a:p>
        </p:txBody>
      </p:sp>
    </p:spTree>
    <p:extLst>
      <p:ext uri="{BB962C8B-B14F-4D97-AF65-F5344CB8AC3E}">
        <p14:creationId xmlns:p14="http://schemas.microsoft.com/office/powerpoint/2010/main" val="183114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8D56053-B296-4EEA-8D53-D89834E4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53A8D3DD-9EFA-4B14-A24D-EEE5D830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让智能体可用的关键，</a:t>
            </a:r>
          </a:p>
          <a:p xmlns:a="http://schemas.openxmlformats.org/drawingml/2006/main">
            <a:pPr algn="l">
              <a:defRPr sz="4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是让每一步都可控。</a:t>
            </a:r>
          </a:p>
        </p:txBody>
      </p:sp>
      <p:sp>
        <p:nvSpPr>
          <p:cNvPr id="3" name="close-sub">
            <a:extLst xmlns:a="http://schemas.openxmlformats.org/drawingml/2006/main">
              <a:ext uri="{FF2B5EF4-FFF2-40B4-BE49-F238E27FC236}">
                <a16:creationId xmlns:a16="http://schemas.microsoft.com/office/drawing/2014/main" id="{EED28EF4-BFC8-4435-B527-05C8CC28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4D5B6A"/>
                </a:solidFill>
                <a:latin typeface="Microsoft YaHei"/>
                <a:ea typeface="Microsoft YaHei"/>
                <a:cs typeface="Microsoft YaHei"/>
              </a:rPr>
              <a:t>ShieldChain 已交付可运行的离线产品闭环、确定性安全边界与可复现工程证据。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A8160362-C97A-4765-BAD7-619DEBD7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0"/>
            <a:ext cx="219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mark">
            <a:extLst xmlns:a="http://schemas.openxmlformats.org/drawingml/2006/main">
              <a:ext uri="{FF2B5EF4-FFF2-40B4-BE49-F238E27FC236}">
                <a16:creationId xmlns:a16="http://schemas.microsoft.com/office/drawing/2014/main" id="{B22CB6B2-76B8-4B2A-A637-A39CB01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038350"/>
            <a:ext cx="161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可信</a:t>
            </a:r>
          </a:p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6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7D8F9882-B3BB-4E50-946B-A1D960AD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81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7111F"/>
                </a:solidFill>
                <a:latin typeface="Microsoft YaHei"/>
                <a:ea typeface="Microsoft YaHei"/>
                <a:cs typeface="Microsoft YaHei"/>
              </a:rPr>
              <a:t>Q&amp;A · 演示路径：事件 → 智能体 → 处置 → 报告</a:t>
            </a:r>
          </a:p>
        </p:txBody>
      </p:sp>
    </p:spTree>
    <p:extLst>
      <p:ext uri="{BB962C8B-B14F-4D97-AF65-F5344CB8AC3E}">
        <p14:creationId xmlns:p14="http://schemas.microsoft.com/office/powerpoint/2010/main" val="1490519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2026-07-24T07:15:35.8540000Z</dcterms:created>
  <dcterms:modified xsi:type="dcterms:W3CDTF">2026-07-24T07:15:35.8540000Z</dcterms:modified>
</coreProperties>
</file>